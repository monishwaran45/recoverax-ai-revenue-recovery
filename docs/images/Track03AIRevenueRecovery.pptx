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183C-6D5D-EA56-B7A5-4C4A20F67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2C656-3718-A166-4713-DACD2FAAC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60B94-48A8-A8FA-3DE6-9D1C5F1B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AA54-9822-BEF1-DD0D-83B2B1F7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76FFE-9FA0-B00F-3EB5-74235C1F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2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0C55-5EE1-3D62-1D49-BC361628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5730-BFE3-C18F-B805-C4D46D44A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C444-5FF0-AA5C-C304-C59B31E8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32C7B-9B2B-557C-66BE-63229D91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EF6B-286F-D3B9-D3BA-15061F3C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5673-533A-E51C-C3E2-E98AD7F7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90B7A-07C4-5D9D-F435-586D07131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DB44-736F-93CB-95D9-D076B973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BA6B4-D230-C160-0EFE-FCD0A460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41936-B069-2237-B4E9-88C07002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B14D-2CF8-4A07-F5FD-3296D9ED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5BD8-2C38-07DB-A6B8-4BB7E9C7F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E98CE-AAAB-9B0F-99FE-4EB01CB55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592F0-09D0-41AB-EA5A-514B0BBD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0C63E-EDB4-7D76-F727-2C0DB968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BA34D-F1E2-4513-BA5E-43E8140E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0CF3-FA5C-6337-77C6-5C92CBE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1351E-11A1-D8F8-D84F-83AE02213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AA5A8-D1D4-4730-17A5-DD383CD63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BEE5D-C619-EB4F-E540-22A724910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DEF81-E7A6-0810-A1AF-1B3339432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16629-73FF-45C3-821A-29A3D312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7EDB8-2FC1-4B41-EFDB-EA3E1DA4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22E39-38CD-F942-EEC7-C70E49AF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2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1969-2E65-E32A-5B34-A73B324D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98183-4F79-1D09-9CA8-99F8EE26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65BB6-F5CC-F234-8080-7A846F69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617E8-27F9-F187-DBDC-FB854D4C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F614F-BF8F-0159-0BE1-D191A35F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8663D-E694-565E-FC63-52AEB8B0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D19E7-D8B2-70A6-57BF-1486005B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0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C019-FCE8-FC28-3099-7752720D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A4D2-EDDC-F5FF-759B-B5D51E6A0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4531B-2A21-0775-97DB-EC260E7E8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1FFA1-7E57-A696-9017-58EBD6AA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7AA2F-174F-947D-E71F-F35EDD74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9B552-EB34-06F2-1CBD-596FD996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7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8EA8-DF37-53F5-563C-CE489AE4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8AD50-2EB3-C5AE-DC07-6ED6EDA43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184D6-B627-C933-D3DA-3096BB9DA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B3A4A-D335-6393-5269-6D0F3742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8FF29-408C-61C3-61A4-8DD8ADB1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68B6A-FE33-066A-2D68-4D762EAA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1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6B0F-73F1-6349-007C-9394B411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CA874-F333-27D8-B4A0-9066059C8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EBAC-746D-AED0-385D-A2079E24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2D072-7D86-34E1-F7A4-CA43B3A8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A2965-CECC-9F94-7C3B-F6865A08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9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7BBBA-086C-3D79-87D4-42DAC06E4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A071A-7F47-61E2-D553-67D197B77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4B378-FFBC-96C9-916F-79A19F02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A1C4-47C1-CB9A-EDB1-7B859D7B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19AFC-E954-5949-5C2B-BD0E23E5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1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0AEC3E-9FDA-B24E-BC5A-19FCB48C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D8C3-95D3-94E7-8173-DB3DF8F2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06235-3862-131C-5467-0FDA2C13D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AEEE-12B1-44CC-997C-1F69BEAA99D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4F8B-13B1-18CF-5DFE-739917D98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896F-81D0-D581-729B-01EF4ADB8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10134-F4B0-4A5E-9B86-3A5C291E6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0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0B14-96C7-07A4-952B-0CBF1EFE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781"/>
            <a:ext cx="9144000" cy="7521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F8878-91B6-5BFA-44E5-19E8B3E97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729" y="998949"/>
            <a:ext cx="12000271" cy="5612270"/>
          </a:xfrm>
        </p:spPr>
        <p:txBody>
          <a:bodyPr/>
          <a:lstStyle/>
          <a:p>
            <a:pPr algn="l"/>
            <a:r>
              <a:rPr lang="en-US" b="1" dirty="0"/>
              <a:t>AI Revenue Recovery</a:t>
            </a:r>
          </a:p>
          <a:p>
            <a:pPr algn="l"/>
            <a:r>
              <a:rPr lang="en-US" dirty="0"/>
              <a:t>Find revenue that’s slipping away and win it back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Businesses lose revenue from </a:t>
            </a:r>
            <a:r>
              <a:rPr lang="en-US" b="1" dirty="0"/>
              <a:t>failed payments, subscription failures, abandoned checkouts, and overdue invoices</a:t>
            </a:r>
            <a:r>
              <a:rPr lang="en-US" dirty="0"/>
              <a:t>. Identifying these cases is only the first </a:t>
            </a:r>
            <a:r>
              <a:rPr lang="en-US" dirty="0" err="1"/>
              <a:t>step.the</a:t>
            </a:r>
            <a:r>
              <a:rPr lang="en-US" dirty="0"/>
              <a:t> system must determine </a:t>
            </a:r>
            <a:r>
              <a:rPr lang="en-US" b="1" dirty="0"/>
              <a:t>what action to take, when to escalate, and when to stop</a:t>
            </a:r>
            <a:r>
              <a:rPr lang="en-US" dirty="0"/>
              <a:t>, while safely recovering revenue.</a:t>
            </a:r>
          </a:p>
          <a:p>
            <a:pPr algn="l"/>
            <a:r>
              <a:rPr lang="en-US" b="1" dirty="0"/>
              <a:t>The Problem in the </a:t>
            </a:r>
            <a:r>
              <a:rPr lang="en-US" b="1" dirty="0" err="1"/>
              <a:t>Razorpay</a:t>
            </a:r>
            <a:r>
              <a:rPr lang="en-US" b="1" dirty="0"/>
              <a:t> Ecosystem Based on the Problem statement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Razorpay</a:t>
            </a:r>
            <a:r>
              <a:rPr lang="en-US" dirty="0"/>
              <a:t> processes a large variety of payment flows, including </a:t>
            </a:r>
            <a:r>
              <a:rPr lang="en-US" b="1" dirty="0"/>
              <a:t>one-time payments, subscriptions, checkouts, and invoices</a:t>
            </a:r>
            <a:r>
              <a:rPr lang="en-US" dirty="0"/>
              <a:t>. When these payments fail or remain incomplete, merchants face a revenue-recovery challenge</a:t>
            </a:r>
          </a:p>
          <a:p>
            <a:pPr algn="l"/>
            <a:r>
              <a:rPr lang="en-US" b="1" dirty="0"/>
              <a:t>Scenario</a:t>
            </a:r>
          </a:p>
          <a:p>
            <a:pPr algn="l"/>
            <a:r>
              <a:rPr lang="en-US" dirty="0"/>
              <a:t>A customer attempts a ₹15,000 payment through </a:t>
            </a:r>
            <a:r>
              <a:rPr lang="en-US" dirty="0" err="1"/>
              <a:t>Razorpay</a:t>
            </a:r>
            <a:r>
              <a:rPr lang="en-US" dirty="0"/>
              <a:t>, but the payment fails.</a:t>
            </a:r>
          </a:p>
          <a:p>
            <a:pPr algn="l"/>
            <a:r>
              <a:rPr lang="en-US" dirty="0"/>
              <a:t>How can merchants recover more revenue from failed or incomplete </a:t>
            </a:r>
            <a:r>
              <a:rPr lang="en-US" dirty="0" err="1"/>
              <a:t>Razorpay</a:t>
            </a:r>
            <a:r>
              <a:rPr lang="en-US" dirty="0"/>
              <a:t> payment flows without blindly retrying, manually reviewing every case, or risking duplicate charges?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600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FCAA-1C24-64DC-7B5F-AEC71C16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767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CB81D-47EB-F0CD-A2CB-600EE37F2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576708"/>
            <a:ext cx="11945112" cy="56002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RecoveraX</a:t>
            </a:r>
            <a:endParaRPr lang="en-US" b="1" dirty="0"/>
          </a:p>
          <a:p>
            <a:r>
              <a:rPr lang="en-US" dirty="0"/>
              <a:t>From Revenue at Risk → Verified Revenue </a:t>
            </a:r>
            <a:r>
              <a:rPr lang="en-US" dirty="0" err="1"/>
              <a:t>Recovery.RecoveraX</a:t>
            </a:r>
            <a:r>
              <a:rPr lang="en-US" dirty="0"/>
              <a:t> uses an agentic workflow to determine the safest and most effective recovery action for every payment case</a:t>
            </a:r>
            <a:endParaRPr lang="en-US" b="1" dirty="0"/>
          </a:p>
          <a:p>
            <a:r>
              <a:rPr lang="en-US" dirty="0"/>
              <a:t>An agentic revenue-recovery system that diagnoses the failure, scores recovery potential, recommends the right action, applies deterministic safety rules, and verifies the money actually recovered.</a:t>
            </a:r>
          </a:p>
          <a:p>
            <a:r>
              <a:rPr lang="en-US" dirty="0"/>
              <a:t>AI recommends → Policy controls → Execute → Verify → Recover</a:t>
            </a:r>
          </a:p>
          <a:p>
            <a:endParaRPr lang="en-US" dirty="0"/>
          </a:p>
          <a:p>
            <a:r>
              <a:rPr lang="en-US" b="1" dirty="0"/>
              <a:t>Three Core Capabilities</a:t>
            </a:r>
          </a:p>
          <a:p>
            <a:r>
              <a:rPr lang="en-US" b="1" dirty="0"/>
              <a:t>Intelligent Decision</a:t>
            </a:r>
            <a:br>
              <a:rPr lang="en-US" dirty="0"/>
            </a:br>
            <a:r>
              <a:rPr lang="en-US" dirty="0"/>
              <a:t>Diagnose failures, score recovery potential, recommend action.</a:t>
            </a:r>
          </a:p>
          <a:p>
            <a:r>
              <a:rPr lang="en-US" b="1" dirty="0"/>
              <a:t>Safe Automation</a:t>
            </a:r>
            <a:br>
              <a:rPr lang="en-US" dirty="0"/>
            </a:br>
            <a:r>
              <a:rPr lang="en-US" dirty="0"/>
              <a:t>Deterministic policies → </a:t>
            </a:r>
            <a:r>
              <a:rPr lang="en-US" b="1" dirty="0"/>
              <a:t>AUTO / HUMAN / BLOCK</a:t>
            </a:r>
            <a:endParaRPr lang="en-US" dirty="0"/>
          </a:p>
          <a:p>
            <a:r>
              <a:rPr lang="en-US" b="1" dirty="0"/>
              <a:t>Verified Recovery</a:t>
            </a:r>
            <a:br>
              <a:rPr lang="en-US" dirty="0"/>
            </a:br>
            <a:r>
              <a:rPr lang="en-US" dirty="0"/>
              <a:t>Execute → Verify → Measure actual revenue recovered.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26479393-01B6-956C-4905-E653A09351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8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35"/>
    </mc:Choice>
    <mc:Fallback xmlns="">
      <p:transition spd="slow" advTm="25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166EE-C75A-3CB1-DD90-92B23307F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274321"/>
            <a:ext cx="12060936" cy="6702552"/>
          </a:xfrm>
        </p:spPr>
        <p:txBody>
          <a:bodyPr>
            <a:normAutofit fontScale="62500" lnSpcReduction="20000"/>
          </a:bodyPr>
          <a:lstStyle/>
          <a:p>
            <a:r>
              <a:rPr lang="en-US" sz="3500" b="1" dirty="0"/>
              <a:t>1. Detect</a:t>
            </a:r>
            <a:br>
              <a:rPr lang="en-US" sz="3500" dirty="0"/>
            </a:br>
            <a:r>
              <a:rPr lang="en-US" sz="3500" dirty="0"/>
              <a:t>Identify a failed or incomplete revenue event.</a:t>
            </a:r>
          </a:p>
          <a:p>
            <a:r>
              <a:rPr lang="en-US" sz="3500" b="1" dirty="0"/>
              <a:t>2. Load Context</a:t>
            </a:r>
            <a:br>
              <a:rPr lang="en-US" sz="3500" dirty="0"/>
            </a:br>
            <a:r>
              <a:rPr lang="en-US" sz="3500" dirty="0"/>
              <a:t>Collect customer, transaction, payment state, history, and retry information.</a:t>
            </a:r>
          </a:p>
          <a:p>
            <a:r>
              <a:rPr lang="en-US" sz="3500" b="1" dirty="0"/>
              <a:t>3. AI Diagnose</a:t>
            </a:r>
            <a:br>
              <a:rPr lang="en-US" sz="3500" dirty="0"/>
            </a:br>
            <a:r>
              <a:rPr lang="en-US" sz="3500" dirty="0"/>
              <a:t>LLM identifies the likely failure pattern.</a:t>
            </a:r>
          </a:p>
          <a:p>
            <a:r>
              <a:rPr lang="en-US" sz="3500" b="1" dirty="0"/>
              <a:t>4. Recovery Score</a:t>
            </a:r>
            <a:br>
              <a:rPr lang="en-US" sz="3500" dirty="0"/>
            </a:br>
            <a:r>
              <a:rPr lang="en-US" sz="3500" dirty="0"/>
              <a:t>Deterministic scoring calculates recovery probability.</a:t>
            </a:r>
          </a:p>
          <a:p>
            <a:r>
              <a:rPr lang="en-US" sz="3500" b="1" dirty="0"/>
              <a:t>5. Recommend Action</a:t>
            </a:r>
            <a:br>
              <a:rPr lang="en-US" sz="3500" dirty="0"/>
            </a:br>
            <a:r>
              <a:rPr lang="en-US" sz="3500" dirty="0"/>
              <a:t>AI recommends </a:t>
            </a:r>
            <a:r>
              <a:rPr lang="en-US" sz="3500" b="1" dirty="0"/>
              <a:t>Retry / Remind / Escalate / Stop</a:t>
            </a:r>
            <a:r>
              <a:rPr lang="en-US" sz="3500" dirty="0"/>
              <a:t>.</a:t>
            </a:r>
          </a:p>
          <a:p>
            <a:r>
              <a:rPr lang="en-US" sz="3500" b="1" dirty="0"/>
              <a:t>6. Policy Guardrails</a:t>
            </a:r>
            <a:br>
              <a:rPr lang="en-US" sz="3500" dirty="0"/>
            </a:br>
            <a:r>
              <a:rPr lang="en-US" sz="3500" dirty="0"/>
              <a:t>Deterministic rules decide: Human/auto/block </a:t>
            </a:r>
          </a:p>
          <a:p>
            <a:r>
              <a:rPr lang="en-US" sz="3500" b="1" dirty="0"/>
              <a:t>7. Fresh Re-check</a:t>
            </a:r>
            <a:br>
              <a:rPr lang="en-US" sz="3500" dirty="0"/>
            </a:br>
            <a:r>
              <a:rPr lang="en-US" sz="3500" dirty="0"/>
              <a:t>Verify the latest payment state before taking action.</a:t>
            </a:r>
          </a:p>
          <a:p>
            <a:r>
              <a:rPr lang="en-US" sz="3500" b="1" dirty="0"/>
              <a:t>8. Execute</a:t>
            </a:r>
            <a:br>
              <a:rPr lang="en-US" sz="3500" dirty="0"/>
            </a:br>
            <a:r>
              <a:rPr lang="en-US" sz="3500" dirty="0"/>
              <a:t>Perform the approved recovery action.</a:t>
            </a:r>
          </a:p>
          <a:p>
            <a:r>
              <a:rPr lang="en-US" sz="3500" b="1" dirty="0"/>
              <a:t>9. Verify Outcome</a:t>
            </a:r>
            <a:br>
              <a:rPr lang="en-US" sz="3500" dirty="0"/>
            </a:br>
            <a:r>
              <a:rPr lang="en-US" sz="3500" dirty="0"/>
              <a:t>Confirm whether the payment/revenue was actually recovered.</a:t>
            </a:r>
          </a:p>
          <a:p>
            <a:r>
              <a:rPr lang="en-US" sz="3500" b="1" dirty="0"/>
              <a:t>10. Re-evaluate</a:t>
            </a:r>
            <a:br>
              <a:rPr lang="en-US" sz="3500" dirty="0"/>
            </a:br>
            <a:r>
              <a:rPr lang="en-US" sz="3500" dirty="0"/>
              <a:t>If unsuccessful, reassess the latest context.</a:t>
            </a:r>
          </a:p>
          <a:p>
            <a:r>
              <a:rPr lang="en-US" sz="3500" b="1" dirty="0"/>
              <a:t>11. Retry / Stop</a:t>
            </a:r>
            <a:br>
              <a:rPr lang="en-US" sz="3500" dirty="0"/>
            </a:br>
            <a:r>
              <a:rPr lang="en-US" sz="3500" dirty="0"/>
              <a:t>Retry only when permitted; otherwise stop permanently.</a:t>
            </a:r>
          </a:p>
          <a:p>
            <a:endParaRPr lang="en-US" b="1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27C8901-3865-27A0-AE9B-2EB3EB075C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991"/>
    </mc:Choice>
    <mc:Fallback xmlns="">
      <p:transition spd="slow" advTm="839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94DD-4A92-CC0A-A4C4-15035F5E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188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Workflow of Agent</a:t>
            </a:r>
            <a:endParaRPr lang="en-US" sz="3200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852E353-76B6-BF3E-B6ED-EABF256D7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6304" y="621792"/>
            <a:ext cx="12045696" cy="6172200"/>
          </a:xfrm>
          <a:prstGeom prst="rect">
            <a:avLst/>
          </a:prstGeom>
        </p:spPr>
      </p:pic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0D328895-7643-D161-5E13-18AC3BA61B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4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1"/>
    </mc:Choice>
    <mc:Fallback xmlns="">
      <p:transition spd="slow" advTm="23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BBC8-E976-69AB-E725-7BA9D20C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0"/>
            <a:ext cx="10515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474D8-C119-FA30-F15D-50E495BC9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0312" y="667512"/>
            <a:ext cx="11981688" cy="6053328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8C46946-E3CC-9223-56CC-430088BDA2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5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3"/>
    </mc:Choice>
    <mc:Fallback xmlns="">
      <p:transition spd="slow" advTm="23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A12B-E713-9783-84A0-D0C04C1B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18"/>
            <a:ext cx="10515600" cy="6085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Recovery scenarios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66C47-9A44-D263-3C7C-8367C3354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50458"/>
              </p:ext>
            </p:extLst>
          </p:nvPr>
        </p:nvGraphicFramePr>
        <p:xfrm>
          <a:off x="246888" y="1197864"/>
          <a:ext cx="11503150" cy="4718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279480770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1963329199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3867083623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3589910572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3782259767"/>
                    </a:ext>
                  </a:extLst>
                </a:gridCol>
              </a:tblGrid>
              <a:tr h="75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Recovery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Policy 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938237"/>
                  </a:ext>
                </a:extLst>
              </a:tr>
              <a:tr h="132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₹2K Temporary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TEMPORARY_FAILURE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₹2K recovered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483887"/>
                  </a:ext>
                </a:extLst>
              </a:tr>
              <a:tr h="132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₹15K Low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TEMPORARY_FAILURE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ESCALATE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Approval →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768765"/>
                  </a:ext>
                </a:extLst>
              </a:tr>
              <a:tr h="132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Ambiguous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POSSIBLE_DEBIT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₹0 risked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0127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4E2706-9715-7F5E-4342-EE88EF60F0E6}"/>
              </a:ext>
            </a:extLst>
          </p:cNvPr>
          <p:cNvSpPr txBox="1"/>
          <p:nvPr/>
        </p:nvSpPr>
        <p:spPr>
          <a:xfrm>
            <a:off x="3047238" y="318489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CFD11-D839-4942-9F52-C0ABF972E0AD}"/>
              </a:ext>
            </a:extLst>
          </p:cNvPr>
          <p:cNvSpPr txBox="1"/>
          <p:nvPr/>
        </p:nvSpPr>
        <p:spPr>
          <a:xfrm>
            <a:off x="3211830" y="607002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Safe → Automate | Uncertain → Escalate | Unsafe → Stop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4A574DAE-29B6-C158-0B99-CFF3EF3879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4"/>
    </mc:Choice>
    <mc:Fallback xmlns="">
      <p:transition spd="slow" advTm="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43A5-FE60-1D27-4909-20ABBC15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Safety, Governance &amp; Auditability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60F0EC-F2A9-CA4D-AC94-1F104AD4C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000177"/>
              </p:ext>
            </p:extLst>
          </p:nvPr>
        </p:nvGraphicFramePr>
        <p:xfrm>
          <a:off x="682752" y="1202997"/>
          <a:ext cx="10515600" cy="1962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785708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98769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59054421"/>
                    </a:ext>
                  </a:extLst>
                </a:gridCol>
              </a:tblGrid>
              <a:tr h="49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Policy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Human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649383"/>
                  </a:ext>
                </a:extLst>
              </a:tr>
              <a:tr h="49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Diagnoses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Amount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Approves uncertain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918513"/>
                  </a:ext>
                </a:extLst>
              </a:tr>
              <a:tr h="49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Scores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Rejects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188566"/>
                  </a:ext>
                </a:extLst>
              </a:tr>
              <a:tr h="49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Recommends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Debit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Controls high-risk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9327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D0E331-EB8F-3EAC-8D60-898ED307B6BC}"/>
              </a:ext>
            </a:extLst>
          </p:cNvPr>
          <p:cNvSpPr txBox="1"/>
          <p:nvPr/>
        </p:nvSpPr>
        <p:spPr>
          <a:xfrm>
            <a:off x="422910" y="3429000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Stopping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Ambiguous payment → BLOCK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customer debit → BLOCK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Fraud signal → BLOCK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Retry limit reached → STOP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High-value / low-confidence → HUMAN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verified success → RECOVERED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820D9-D5B1-1216-E482-F0EE7EA6645A}"/>
              </a:ext>
            </a:extLst>
          </p:cNvPr>
          <p:cNvSpPr txBox="1"/>
          <p:nvPr/>
        </p:nvSpPr>
        <p:spPr>
          <a:xfrm>
            <a:off x="422910" y="5460325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Complete Audit Trail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Diagnosis → Score → Policy → Approval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→ Execution → Verification → Outcome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3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Track03</Template>
  <TotalTime>0</TotalTime>
  <Words>549</Words>
  <Application>Microsoft Office PowerPoint</Application>
  <PresentationFormat>Widescreen</PresentationFormat>
  <Paragraphs>78</Paragraphs>
  <Slides>7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Problem Statement</vt:lpstr>
      <vt:lpstr>Solution</vt:lpstr>
      <vt:lpstr>PowerPoint Presentation</vt:lpstr>
      <vt:lpstr>Workflow of Agent</vt:lpstr>
      <vt:lpstr>System  architecture</vt:lpstr>
      <vt:lpstr>Recovery scenarios</vt:lpstr>
      <vt:lpstr>Safety, Governance &amp; Auditability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 Boyyyy</dc:creator>
  <cp:lastModifiedBy>Hell Boyyyy</cp:lastModifiedBy>
  <cp:revision>1</cp:revision>
  <dcterms:created xsi:type="dcterms:W3CDTF">2026-08-29T16:55:24Z</dcterms:created>
  <dcterms:modified xsi:type="dcterms:W3CDTF">2026-08-29T16:55:35Z</dcterms:modified>
</cp:coreProperties>
</file>